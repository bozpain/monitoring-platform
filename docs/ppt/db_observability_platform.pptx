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91840"/>
            <a:ext cx="5029200" cy="2286000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274320"/>
            <a:ext cx="2926080" cy="2926080"/>
          </a:xfrm>
          <a:prstGeom prst="rect">
            <a:avLst/>
          </a:prstGeom>
          <a:solidFill>
            <a:srgbClr val="06B6D4">
              <a:alpha val="14000"/>
            </a:srgbClr>
          </a:solidFill>
          <a:ln w="12700">
            <a:solidFill>
              <a:srgbClr val="06B6D4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00584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Database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1719072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Platform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146304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743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Monitoring for RDBMS · NoSQL · Infrastructure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1920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337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51760" y="3337560"/>
            <a:ext cx="192024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51760" y="3337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3337560"/>
            <a:ext cx="19202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3337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Instances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58000" y="3337560"/>
            <a:ext cx="192024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3337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by DBA Team  •  Secure  •  Scalable  •  Offline Ready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faced before this platform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834640" cy="17190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3502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29844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Monitoring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11480" y="173736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database managed independently with no centralized visibility across systems.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170432"/>
            <a:ext cx="2834640" cy="1719072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33502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129844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Application Visibility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383280" y="173736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correlation between DB performance and application tiers (SIT / UAT).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1170432"/>
            <a:ext cx="2834640" cy="1719072"/>
          </a:xfrm>
          <a:prstGeom prst="rect">
            <a:avLst/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35024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12280" y="129844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Incident Detection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355080" y="173736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discovered after user complaints — hours of downtime and slow MTTR.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274320" y="3127248"/>
            <a:ext cx="2834640" cy="1719072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29184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8680" y="325526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Infrastructure View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11480" y="3694176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Servers, VMs, disks, and network devices had zero observability coverage.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3246120" y="3127248"/>
            <a:ext cx="2834640" cy="1719072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29184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40480" y="325526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DBA Productivity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3383280" y="3694176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DBAs spent hours on manual checks instead of proactive optimization.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217920" y="3127248"/>
            <a:ext cx="2834640" cy="17190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291840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12280" y="325526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Process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6355080" y="3694176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monitored differently — no shared dashboards or runbooks.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observability platform — one place to monitor everything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743200" cy="1572768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6B6D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3533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Visibility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9202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Single-pane-of-glass for all DBs &amp; infra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37560" y="1170432"/>
            <a:ext cx="2743200" cy="1572768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22C55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3716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42232" y="13533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Insights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20440" y="19202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metrics for faster troubleshooting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17920" y="1170432"/>
            <a:ext cx="2743200" cy="1572768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97316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22592" y="13533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Alerting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00800" y="19202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alerts by app &amp; tier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57200" y="2907792"/>
            <a:ext cx="2743200" cy="1572768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8B5CF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0896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61872" y="3090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Discovery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40080" y="365760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CSV-driven dynamic target generation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3337560" y="2907792"/>
            <a:ext cx="2743200" cy="1572768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14B8A6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108960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142232" y="3090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520440" y="365760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500+ database instances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217920" y="2907792"/>
            <a:ext cx="2743200" cy="1572768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EF4444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108960"/>
            <a:ext cx="502920" cy="5029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22592" y="3090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Ready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400800" y="365760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dependency required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 from source to insight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7280" y="1143000"/>
            <a:ext cx="5120640" cy="777240"/>
          </a:xfrm>
          <a:prstGeom prst="rect">
            <a:avLst/>
          </a:prstGeom>
          <a:solidFill>
            <a:srgbClr val="ECFEFF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143000"/>
            <a:ext cx="73152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29844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1234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874520" y="1600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 · NoSQL · Servers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0" y="1920240"/>
            <a:ext cx="0" cy="164592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97280" y="2084832"/>
            <a:ext cx="5120640" cy="777240"/>
          </a:xfrm>
          <a:prstGeom prst="rect">
            <a:avLst/>
          </a:prstGeom>
          <a:solidFill>
            <a:srgbClr val="F0FDFA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97280" y="2084832"/>
            <a:ext cx="7315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2240280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74520" y="21762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Exporters Layer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874520" y="25420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Collection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0" y="2862072"/>
            <a:ext cx="0" cy="164592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097280" y="3026664"/>
            <a:ext cx="512064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97280" y="3026664"/>
            <a:ext cx="73152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3182112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74520" y="31181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874520" y="34838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 Alert Rules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657600" y="3803904"/>
            <a:ext cx="0" cy="164592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097280" y="3968496"/>
            <a:ext cx="5120640" cy="777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097280" y="3968496"/>
            <a:ext cx="73152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4123944"/>
            <a:ext cx="438912" cy="4389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874520" y="40599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874520" y="44256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Time Series DB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492240" y="2377440"/>
            <a:ext cx="2468880" cy="74980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492240" y="2377440"/>
            <a:ext cx="64008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2514600"/>
            <a:ext cx="438912" cy="4389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178040" y="24688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7178040" y="27797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Visualization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492240" y="3383280"/>
            <a:ext cx="2468880" cy="74980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492240" y="3383280"/>
            <a:ext cx="64008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3520440"/>
            <a:ext cx="438912" cy="43891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178040" y="34747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7178040" y="378561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(SMTP)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6217920" y="2743200"/>
            <a:ext cx="2743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6217920" y="3749040"/>
            <a:ext cx="27432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137160" y="1234440"/>
            <a:ext cx="6400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246888" y="123444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MySQL/PostgreSQL/Oracle/MSSQL</a:t>
            </a:r>
            <a:endParaRPr lang="en-US" sz="750" dirty="0"/>
          </a:p>
        </p:txBody>
      </p:sp>
      <p:sp>
        <p:nvSpPr>
          <p:cNvPr id="43" name="Shape 35"/>
          <p:cNvSpPr/>
          <p:nvPr/>
        </p:nvSpPr>
        <p:spPr>
          <a:xfrm>
            <a:off x="137160" y="1673352"/>
            <a:ext cx="64008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246888" y="167335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MongoDB/Cassandra/Redis/ES</a:t>
            </a:r>
            <a:endParaRPr lang="en-US" sz="750" dirty="0"/>
          </a:p>
        </p:txBody>
      </p:sp>
      <p:sp>
        <p:nvSpPr>
          <p:cNvPr id="45" name="Shape 37"/>
          <p:cNvSpPr/>
          <p:nvPr/>
        </p:nvSpPr>
        <p:spPr>
          <a:xfrm>
            <a:off x="137160" y="2112264"/>
            <a:ext cx="64008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246888" y="211226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Servers/VMs/Containers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Portfolio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insights across all layers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88920" cy="3749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7889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1615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2161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Overview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" y="1901952"/>
            <a:ext cx="146304" cy="14630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" y="181965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systems &amp; availability %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" y="2633472"/>
            <a:ext cx="146304" cy="14630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" y="255117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alerts &amp; down instances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5488" y="3364992"/>
            <a:ext cx="146304" cy="14630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4088" y="328269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Multi-environment summary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5488" y="4096512"/>
            <a:ext cx="146304" cy="14630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4088" y="401421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consumers at a glance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227832" y="1143000"/>
            <a:ext cx="2788920" cy="3749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27832" y="1143000"/>
            <a:ext cx="27889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216152"/>
            <a:ext cx="384048" cy="3840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822192" y="12161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Monitoring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3429000" y="1901952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657600" y="181965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performance &amp; execution time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3429000" y="2633472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657600" y="255117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&amp; blocking analysis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429000" y="3364992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657600" y="328269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tracking &amp; growth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3429000" y="4096512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657600" y="401421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&amp; cluster health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181344" y="1143000"/>
            <a:ext cx="2788920" cy="37490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181344" y="1143000"/>
            <a:ext cx="27889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216152"/>
            <a:ext cx="384048" cy="38404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775704" y="12161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6382512" y="1901952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611112" y="181965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Memory utilization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382512" y="2633472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611112" y="255117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usage &amp; I/O throughput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6382512" y="3364992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611112" y="328269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 &amp; errors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6382512" y="4096512"/>
            <a:ext cx="146304" cy="14630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611112" y="401421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&amp; VM metrics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Alerting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alerts with full operational context via Alertmanager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4846320" cy="1325880"/>
          </a:xfrm>
          <a:prstGeom prst="rect">
            <a:avLst/>
          </a:prstGeom>
          <a:solidFill>
            <a:srgbClr val="150404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07008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[CRITICAL][CORE-BANKING][SIT]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Resource Usage on db-oracle-01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CPU: 94%  |  Memory: 87%  |  Duration: 12min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334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08760" y="26334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CORE-BANKING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0" y="26334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77640" y="26334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16382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08760" y="316382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6080" y="316382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77640" y="316382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db-oracle-01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69417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508760" y="369417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SMTP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77840" y="1143000"/>
            <a:ext cx="333756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298448"/>
            <a:ext cx="402336" cy="40233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199632" y="1325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via Alertmanager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577840" y="2075688"/>
            <a:ext cx="333756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231136"/>
            <a:ext cx="402336" cy="40233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199632" y="225856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(SMTP) notifications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577840" y="3008376"/>
            <a:ext cx="333756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163824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199632" y="319125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by app + tier + severity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577840" y="3941064"/>
            <a:ext cx="333756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4096512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199632" y="412394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Auto-resolution on recovery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Auto Discovery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reproducible, CSV-driven setup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5486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0700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" y="1207008"/>
            <a:ext cx="37947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1261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Deployment Script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70432" y="1554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./deploy_all.sh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121408"/>
            <a:ext cx="5486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2140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51560" y="2121408"/>
            <a:ext cx="37947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2176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Inventory (CSV)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2468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inventory/targets.csv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035808"/>
            <a:ext cx="5486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3580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51560" y="3035808"/>
            <a:ext cx="37947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3090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Configurations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70432" y="3383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scripts/generate_targets.py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950208"/>
            <a:ext cx="5486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5020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51560" y="3950208"/>
            <a:ext cx="379476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0432" y="4005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Prometheus Configs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70432" y="4297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config/targets/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57800" y="1207008"/>
            <a:ext cx="17373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57800" y="12984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5257800" y="1892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Instances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78040" y="1207008"/>
            <a:ext cx="17373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78040" y="12984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7178040" y="1892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Types Supported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57800" y="2487168"/>
            <a:ext cx="17373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257800" y="257860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5257800" y="3172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Command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178040" y="2487168"/>
            <a:ext cx="17373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178040" y="257860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7178040" y="3172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Required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delivered to the organization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834640" cy="17190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73152" cy="17190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331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33502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Detection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1792224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cut mean-time-to-detect from hours to minutes across all environments.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46120" y="1170432"/>
            <a:ext cx="2834640" cy="17190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170432"/>
            <a:ext cx="73152" cy="1719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5331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31920" y="133502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Downtime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29000" y="1792224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monitoring catches issues before they impact business operations and users.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17920" y="1170432"/>
            <a:ext cx="2834640" cy="17190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170432"/>
            <a:ext cx="73152" cy="17190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53312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03720" y="133502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 Productivity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0" y="1792224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DBAs shift from reactive firefighting to strategic optimization and planning.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274320" y="3127248"/>
            <a:ext cx="2834640" cy="17190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74320" y="3127248"/>
            <a:ext cx="73152" cy="17190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10128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Monitoring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3749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tooling and dashboards across all teams, apps, and environments.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246120" y="3127248"/>
            <a:ext cx="2834640" cy="17190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46120" y="3127248"/>
            <a:ext cx="73152" cy="17190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310128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31920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Visibility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3429000" y="3749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observability linking database metrics to application performance.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217920" y="3127248"/>
            <a:ext cx="2834640" cy="17190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17920" y="3127248"/>
            <a:ext cx="73152" cy="17190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310128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903720" y="32918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License Cost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400800" y="37490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open-source: Prometheus, VictoriaMetrics, Grafana, Alertmanager.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headed next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74320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74520" y="10972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Done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2743200" cy="3310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3736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171907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dashboard live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4688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245059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monitoring active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20040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318211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alerting ready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931920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391363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Auto-discovery via CSV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3383280" y="1097280"/>
            <a:ext cx="274320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3383280" y="10972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800600" y="10972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 Months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383280" y="1600200"/>
            <a:ext cx="2743200" cy="3310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1737360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31920" y="171907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anomaly detection</a:t>
            </a:r>
            <a:endParaRPr lang="en-US" sz="11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872" y="2468880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931920" y="245059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1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7872" y="3200400"/>
            <a:ext cx="292608" cy="29260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931920" y="318211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thresholds</a:t>
            </a:r>
            <a:endParaRPr lang="en-US" sz="11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7872" y="3931920"/>
            <a:ext cx="292608" cy="29260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931920" y="391363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integration</a:t>
            </a:r>
            <a:endParaRPr lang="en-US" sz="1100" dirty="0"/>
          </a:p>
        </p:txBody>
      </p:sp>
      <p:sp>
        <p:nvSpPr>
          <p:cNvPr id="29" name="Shape 19"/>
          <p:cNvSpPr/>
          <p:nvPr/>
        </p:nvSpPr>
        <p:spPr>
          <a:xfrm>
            <a:off x="6309360" y="1097280"/>
            <a:ext cx="274320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6309360" y="10972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31" name="Text 21"/>
          <p:cNvSpPr/>
          <p:nvPr/>
        </p:nvSpPr>
        <p:spPr>
          <a:xfrm>
            <a:off x="7726680" y="10972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000" dirty="0"/>
          </a:p>
        </p:txBody>
      </p:sp>
      <p:sp>
        <p:nvSpPr>
          <p:cNvPr id="32" name="Shape 22"/>
          <p:cNvSpPr/>
          <p:nvPr/>
        </p:nvSpPr>
        <p:spPr>
          <a:xfrm>
            <a:off x="6309360" y="1600200"/>
            <a:ext cx="2743200" cy="3310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3952" y="1737360"/>
            <a:ext cx="292608" cy="29260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858000" y="171907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remediation</a:t>
            </a:r>
            <a:endParaRPr lang="en-US" sz="11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3952" y="2468880"/>
            <a:ext cx="292608" cy="29260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858000" y="245059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alerts</a:t>
            </a:r>
            <a:endParaRPr lang="en-US" sz="110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3952" y="3200400"/>
            <a:ext cx="292608" cy="292608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858000" y="318211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scaling</a:t>
            </a:r>
            <a:endParaRPr lang="en-US" sz="11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3952" y="3931920"/>
            <a:ext cx="292608" cy="292608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858000" y="3913632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workflows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11880"/>
            <a:ext cx="9144000" cy="1531620"/>
          </a:xfrm>
          <a:prstGeom prst="rect">
            <a:avLst/>
          </a:prstGeom>
          <a:solidFill>
            <a:srgbClr val="080F1A"/>
          </a:solidFill>
          <a:ln w="12700">
            <a:solidFill>
              <a:srgbClr val="080F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 •  Scalable  •  Reliable  •  Open Source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DBA Team.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Business.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51560" y="3858768"/>
            <a:ext cx="1645920" cy="411480"/>
          </a:xfrm>
          <a:prstGeom prst="rect">
            <a:avLst/>
          </a:prstGeom>
          <a:solidFill>
            <a:srgbClr val="0D9488">
              <a:alpha val="6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8587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80360" y="3858768"/>
            <a:ext cx="1645920" cy="411480"/>
          </a:xfrm>
          <a:prstGeom prst="rect">
            <a:avLst/>
          </a:prstGeom>
          <a:solidFill>
            <a:srgbClr val="0D9488">
              <a:alpha val="6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38587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3858768"/>
            <a:ext cx="1645920" cy="411480"/>
          </a:xfrm>
          <a:prstGeom prst="rect">
            <a:avLst/>
          </a:prstGeom>
          <a:solidFill>
            <a:srgbClr val="0D9488">
              <a:alpha val="6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38587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37960" y="3858768"/>
            <a:ext cx="1645920" cy="411480"/>
          </a:xfrm>
          <a:prstGeom prst="rect">
            <a:avLst/>
          </a:prstGeom>
          <a:solidFill>
            <a:srgbClr val="0D9488">
              <a:alpha val="6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8587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by DBA Team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Database Observability Platform</dc:title>
  <dc:subject>PptxGenJS Presentation</dc:subject>
  <dc:creator>PptxGenJS</dc:creator>
  <cp:lastModifiedBy>PptxGenJS</cp:lastModifiedBy>
  <cp:revision>1</cp:revision>
  <dcterms:created xsi:type="dcterms:W3CDTF">2026-04-26T08:18:33Z</dcterms:created>
  <dcterms:modified xsi:type="dcterms:W3CDTF">2026-04-26T08:18:33Z</dcterms:modified>
</cp:coreProperties>
</file>